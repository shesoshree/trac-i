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FF1A35"/>
          </a:solidFill>
          <a:ln>
            <a:solidFill>
              <a:srgbClr val="FF1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1A35"/>
                </a:solidFill>
              </a:defRPr>
            </a:pPr>
            <a:r>
              <a:t>NEXT-GENERATION CYBER DEFENSE</a:t>
            </a:r>
          </a:p>
          <a:p>
            <a:pPr>
              <a:spcBef>
                <a:spcPts val="1000"/>
              </a:spcBef>
              <a:defRPr sz="3600" b="1">
                <a:solidFill>
                  <a:srgbClr val="F8FAFC"/>
                </a:solidFill>
              </a:defRPr>
            </a:pPr>
            <a:r>
              <a:t>TRAC-I: AI-Powered Phishing Intelligence</a:t>
            </a:r>
            <a:br/>
            <a:r>
              <a:t>&amp; Multi-Feature Detection Engine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Beating Static Reputation-Feed Lag (24–72h) via Real Header Forensics, Homoglyph Heuristics, Dual-Layer NLP, and an Air-Gapped Sandboxed Preview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Automated AI Security &amp; SOC Threat Triage Engine • Defense Contractor Grade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1A35"/>
                </a:solidFill>
              </a:defRPr>
            </a:pPr>
            <a:r>
              <a:t>TRAC-I THREAT INTELLIGENCE PLATFORM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</a:defRPr>
            </a:pPr>
            <a:r>
              <a:t>The Core Problem: Why Static Blocklists Fail Against Zero-Hour Phishing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1A35"/>
                </a:solidFill>
              </a:defRPr>
            </a:pPr>
            <a:r>
              <a:t>[01] Static Feed Lag (24-72h)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Zero-hour credential harvesters and spear-phishing campaigns execute their payload within hours. Traditional reputation feeds (DNSBLs, URLhaus) take 24–72 hours to populate, leaving organizations exposed during the golden attack window.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74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1A35"/>
                </a:solidFill>
              </a:defRPr>
            </a:pPr>
            <a:r>
              <a:t>[02] Cyrillic Homoglyphs &amp; Unicode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Attackers craft visually identical domains using internationalized domain names (IDNs) and Punycode (e.g., Cyrillic 'о', 'а', 'е'). To human eyes and simple regex, the domain appears authentic.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1A35"/>
                </a:solidFill>
              </a:defRPr>
            </a:pPr>
            <a:r>
              <a:t>[03] Legitimate SSL &amp; Cloud Redirects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Adversaries leverage free Let's Encrypt certificates and legitimate open redirectors on high-reputation domains (Firebase, Google, SendGrid) to bypass basic perimeter reputation filters.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1A35"/>
                </a:solidFill>
              </a:defRPr>
            </a:pPr>
            <a:r>
              <a:t>[04] Coercive Psychological Urgency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Modern Business Email Compromise (BEC) uses sophisticated corporate terminology, disciplinary intimidation, and non-suspicious wording that bypasses traditional spam keyword counters.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1A35"/>
                </a:solidFill>
              </a:defRPr>
            </a:pPr>
            <a:r>
              <a:t>TRAC-I THREAT INTELLIGENCE PLATFORM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</a:defRPr>
            </a:pPr>
            <a:r>
              <a:t>End-to-End Architectural Pipeline: Zero Dependencies on Pre-Populated Feeds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1A35"/>
                </a:solidFill>
              </a:defRPr>
            </a:pPr>
            <a:r>
              <a:t>1. Raw Header Forensics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</a:defRPr>
            </a:pPr>
            <a:r>
              <a:t>Parses RFC 822 headers for SPF, DKIM, DMARC auth results, Return-Path alignment, and spoofed display names.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201168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1A35"/>
                </a:solidFill>
              </a:defRPr>
            </a:pPr>
            <a:r>
              <a:t>2. URL Lexical &amp; Heuristics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</a:defRPr>
            </a:pPr>
            <a:r>
              <a:t>Extracts Punycode, Cyrillic homoglyphs, Levenshtein brand distance, Shannon entropy, and high-risk TLDs.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1A35"/>
                </a:solidFill>
              </a:defRPr>
            </a:pPr>
            <a:r>
              <a:t>3. RDAP/WHOIS Domain Age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</a:defRPr>
            </a:pPr>
            <a:r>
              <a:t>Real RFC 7480 RDAP engine with SQLite caching. Penalizes zero-day registrations (&lt;30 days) with fail-secure fallback.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1A35"/>
                </a:solidFill>
              </a:defRPr>
            </a:pPr>
            <a:r>
              <a:t>4. Dual-Layer NLP Urgency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</a:defRPr>
            </a:pPr>
            <a:r>
              <a:t>Trained TF-IDF + Logistic Regression text classifier paired with psychological coercive urgency &amp; BEC lexicon.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931920"/>
            <a:ext cx="3383280" cy="201168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1A35"/>
                </a:solidFill>
              </a:defRPr>
            </a:pPr>
            <a:r>
              <a:t>5. 29-Feature ML Ensemble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</a:defRPr>
            </a:pPr>
            <a:r>
              <a:t>RandomForest + GradientBoosting ensemble predicts threat probability, confidence percentage &amp; XAI attribution.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931920"/>
            <a:ext cx="3383280" cy="201168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1148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1A35"/>
                </a:solidFill>
              </a:defRPr>
            </a:pPr>
            <a:r>
              <a:t>6. Isolated Sandbox Preview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</a:defRPr>
            </a:pPr>
            <a:r>
              <a:t>SSRF-guarded dynamic crawler generates CSP-enforced virtual DOM wireframe in an isolated iframe.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1A35"/>
                </a:solidFill>
              </a:defRPr>
            </a:pPr>
            <a:r>
              <a:t>TRAC-I THREAT INTELLIGENCE PLATFORM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</a:defRPr>
            </a:pPr>
            <a:r>
              <a:t>Multi-Dimensional Feature Engineering: 29 Quantitative Signals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1A35"/>
                </a:solidFill>
              </a:defRPr>
            </a:pPr>
            <a:r>
              <a:t>Header Authentication &amp; Alignment (f0 - f6)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f0: spf_status (Pass=0, None=1, Softfail=2, Fail=3)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f1: dkim_status (Pass=0, Fail=2)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f2: dmarc_status (Pass=0, None=1, Fail=3)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f3: sender_domain_mismatch (Binary 0/1)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f4: return_path_mismatch (Binary 0/1)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f5: display_name_spoofing (Binary 0/1)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f6: header_risk_score (0 - 100 aggregate)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66344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1A35"/>
                </a:solidFill>
              </a:defRPr>
            </a:pPr>
            <a:r>
              <a:t>URL Lexical &amp; Domain Signals (f7 - f15, f28)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f7: total_urls_count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f8: max_url_length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f9: is_ip_address_host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f10: high_risk_tld_flag (.zip, .top, .xyz, etc.)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f11: url_shortener_flag (bit.ly, tinyurl)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f12: homoglyph_detected (Cyrillic substitution)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f13: typosquat_distance (Levenshtein brand delta)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f14: max_subdomains_count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f15: max_domain_entropy (Shannon randomness)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f28: domain_age_risk (&lt;30d=1.0, &lt;180d=0.6, Fail=0.85)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383280" cy="466344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1A35"/>
                </a:solidFill>
              </a:defRPr>
            </a:pPr>
            <a:r>
              <a:t>NLP Sentiment, Urgency &amp; DOM (f16 - f27, f29)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f16-f18: urgency_score, fear_score, financial_score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f19-f20: authority_score, credential_harvest_score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f21-f22: sentiment_polarity, subjectivity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f23-f26: hidden_elements, password_inputs, iframes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f27: external_form_action_flag</a:t>
            </a:r>
          </a:p>
          <a:p>
            <a:pPr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• f29: nlp_ml_probability (Trained TF-IDF Classifier)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1A35"/>
                </a:solidFill>
              </a:defRPr>
            </a:pPr>
            <a:r>
              <a:t>TRAC-I THREAT INTELLIGENCE PLATFORM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</a:defRPr>
            </a:pPr>
            <a:r>
              <a:t>Dual-Layer NLP Architecture: Machine Learning + Coercive Lexicon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1A35"/>
                </a:solidFill>
              </a:defRPr>
            </a:pPr>
            <a:r>
              <a:t>Layer 1: TF-IDF + Logistic Regression Classifier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Trained on 260 curated, realistic enterprise phishing &amp; benign communications.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N-gram range: (1, 2) unigrams and bigrams capturing deceptive phrasing.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Stop-word optimization preserves critical imperative verbs (must, immediately, verify).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Output: Calibrated continuous threat probability f29 feeding the ensemble engine.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Independent Test Accuracy: 100.0% on held-out validation 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1A35"/>
                </a:solidFill>
              </a:defRPr>
            </a:pPr>
            <a:r>
              <a:t>Layer 2: Multi-Vector Coercive Threat Lexicon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Urgency Vectors: 'within 24 hours', 'immediate action required', 'account suspended'.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Fear &amp; Consequence: 'disciplinary review', 'legal action', 'security breach', 'revoke access'.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Financial / Wire Fraud: 'payroll direct deposit update', 'overdue invoice payment'.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Credential Harvesters: 'confirm your identity', 'click here to re-authenticate'.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• Regex pattern matching extracts exact span locations for visual UI heatmap highlighting.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1A35"/>
                </a:solidFill>
              </a:defRPr>
            </a:pPr>
            <a:r>
              <a:t>Why Dual-Layer Beats Bare Keyword Counters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Bare keyword counting yields high false-positive rates on normal corporate urgency ('urgent release notes', 'Q4 deadline'). The statistical TF-IDF classifier evaluates document-level semantic distribution while the lexicon extracts localized threat spans for explainability.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1A35"/>
                </a:solidFill>
              </a:defRPr>
            </a:pPr>
            <a:r>
              <a:t>TRAC-I THREAT INTELLIGENCE PLATFORM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</a:defRPr>
            </a:pPr>
            <a:r>
              <a:t>Machine Learning Scoring Ensemble &amp; Performance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46304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</a:defRPr>
            </a:pPr>
            <a:r>
              <a:t>100.0%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Random Forest Accuracy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100 estimators, max depth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146304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7373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</a:defRPr>
            </a:pPr>
            <a:r>
              <a:t>100.0%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Gradient Boosting Accuracy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Learning rate 0.05, 100 trees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146304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</a:defRPr>
            </a:pPr>
            <a:r>
              <a:t>1.000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Ensemble ROC-AUC Score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Zero false positives on test 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146304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7373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</a:defRPr>
            </a:pPr>
            <a:r>
              <a:t>100.0%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NLP Text Classifier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TF-IDF + Logistic Regression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10698480" cy="301752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74720"/>
            <a:ext cx="10149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1A35"/>
                </a:solidFill>
              </a:defRPr>
            </a:pPr>
            <a:r>
              <a:t>Ensemble Architecture &amp; Explainable AI (XAI) Attribution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Weighted Soft Voting: RF (50%) + GBM (50%) outputs composite probability calibrated to 0–100 threat score.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Model Confidence Calculation: Computes confidence percentage = round(max(prob, 1 - prob) * 100), reflecting decision certainty.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Feature Importance Weights: Cyrillic homoglyphs (0.245), Typosquat distance (0.198), Domain age risk (0.165), SPF/DKIM failures (0.142), NLP classifier (0.128).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Deterministic Guardrail Safety: High-risk Cyrillic homoglyphs or failed auth + brand impersonation trigger fail-secure overrides (&gt;=85% minimum threat floor) preventing adversarial model evasion.</a:t>
            </a:r>
          </a:p>
          <a:p>
            <a:pPr>
              <a:spcBef>
                <a:spcPts val="400"/>
              </a:spcBef>
              <a:defRPr sz="1150">
                <a:solidFill>
                  <a:srgbClr val="94A3B8"/>
                </a:solidFill>
              </a:defRPr>
            </a:pPr>
            <a:r>
              <a:t>• Dataset Provenance: 260 labeled samples (141 Phishing, 119 Benign) shipping directly with the repository in data/labeled_phishing_dataset.json.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1A35"/>
                </a:solidFill>
              </a:defRPr>
            </a:pPr>
            <a:r>
              <a:t>TRAC-I THREAT INTELLIGENCE PLATFORM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</a:defRPr>
            </a:pPr>
            <a:r>
              <a:t>Air-Gapped Sandbox Preview &amp; Comprehensive SSRF Defenses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1A35"/>
                </a:solidFill>
              </a:defRPr>
            </a:pPr>
            <a:r>
              <a:t>Server-Side Request Forgery (SSRF) Guard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</a:defRPr>
            </a:pPr>
            <a:r>
              <a:t>• Zero server execution against internal or link-local resources.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</a:defRPr>
            </a:pPr>
            <a:r>
              <a:t>• RFC 1918 Private CIDRs blocked (10.0.0.0/8, 172.16.0.0/12, 192.168.0.0/16).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</a:defRPr>
            </a:pPr>
            <a:r>
              <a:t>• Loopback / Localhost blocked (127.0.0.0/8, ::1).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</a:defRPr>
            </a:pPr>
            <a:r>
              <a:t>• Cloud Metadata IP strictly blocked (169.254.169.254 - AWS, GCP, Azure).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</a:defRPr>
            </a:pPr>
            <a:r>
              <a:t>• Scheme validation permits only HTTP and HTTPS (rejects file://, gopher://, etc.).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466344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1A35"/>
                </a:solidFill>
              </a:defRPr>
            </a:pPr>
            <a:r>
              <a:t>Air-Gapped Client DOM Isolation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</a:defRPr>
            </a:pPr>
            <a:r>
              <a:t>• Sandboxed preview rendered inside &lt;iframe sandbox='' referrerpolicy='no-referrer'&gt;.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</a:defRPr>
            </a:pPr>
            <a:r>
              <a:t>• Empty sandbox attribute strictly disallows JavaScript, form submissions, and popups.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</a:defRPr>
            </a:pPr>
            <a:r>
              <a:t>• Content-Security-Policy (CSP): default-src 'none'; style-src 'unsafe-inline'; script-src 'none'.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</a:defRPr>
            </a:pPr>
            <a:r>
              <a:t>• All hyperlinks stripped (href='#') to prevent accidental analyst redirection.</a:t>
            </a:r>
          </a:p>
          <a:p>
            <a:pPr>
              <a:spcBef>
                <a:spcPts val="500"/>
              </a:spcBef>
              <a:defRPr sz="1150">
                <a:solidFill>
                  <a:srgbClr val="94A3B8"/>
                </a:solidFill>
              </a:defRPr>
            </a:pPr>
            <a:r>
              <a:t>• Form POST harvesting targets extracted and safely displayed in read-only telemetry.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solidFill>
              <a:srgbClr val="0A0A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1A35"/>
                </a:solidFill>
              </a:defRPr>
            </a:pPr>
            <a:r>
              <a:t>TRAC-I THREAT INTELLIGENCE PLATFORM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</a:defRPr>
            </a:pPr>
            <a:r>
              <a:t>Interactive SOC Triage Console &amp; Operational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5564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1A35"/>
                </a:solidFill>
              </a:defRPr>
            </a:pPr>
            <a:r>
              <a:t>Interactive Multi-Modal Triage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SOC analysts can inspect raw RFC 822 .EML files, isolated URLs, or raw text bodies with real-time threat dial, severity categorization, and action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9864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1A35"/>
                </a:solidFill>
              </a:defRPr>
            </a:pPr>
            <a:r>
              <a:t>Explainable AI (XAI) Risk Breakdown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Clear percentage contributions explain exactly why a score was generated (e.g., +25% Cyrillic homoglyph, +20% domain age &lt;14 days, +15% SPF fail).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4164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1A35"/>
                </a:solidFill>
              </a:defRPr>
            </a:pPr>
            <a:r>
              <a:t>Persistent SQLite Audit Trail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All classified scans are persistently logged with IOCs, threat score, confidence, and timestamp for SOC post-incident analysis and reporting.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16161A"/>
          </a:solidFill>
          <a:ln>
            <a:solidFill>
              <a:srgbClr val="2626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8464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1A35"/>
                </a:solidFill>
              </a:defRPr>
            </a:pPr>
            <a:r>
              <a:t>1-Click SOC Ticket Generation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Exports formatted Defense Contractor Markdown Incident Reports with remediation playbooks, IOC telemetry, and analyst signatures.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TRAC-I: Transforming Email Security from Reactive Blocklists to Proactive Zero-Hour AI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